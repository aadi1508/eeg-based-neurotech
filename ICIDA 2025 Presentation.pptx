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6" r:id="rId9"/>
    <p:sldId id="267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4FF15-20DF-4CDD-BAB1-B1D75BF176F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22690-DD7E-4218-BB7F-393DB623C5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9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12F5-9085-4278-981E-CB9599ED3326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0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A98-2996-42FB-8C5D-F77F19CFBD4E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93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B077-34B8-411E-BCCD-305996E14322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5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67BC-AECD-4962-807C-3509E4621323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7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287A-5772-4136-A0C1-6DD5D29193E0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31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C53A-3D87-43DB-BF3B-BDE3FB4B3722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32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5786E-E37B-4118-9206-8E8847FE2DE2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10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3D7B-FA1B-47AF-AA2B-2CB8C13DB3E6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A180-469F-4998-AD25-807E7D82E310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9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5A59-CC8B-4554-A431-12F9549D4052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45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3275-4964-4E47-A590-9821C2D2B0B9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280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3F23-FF0A-44D0-8559-38ECAC72DE8C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C09E-BCBF-40B9-85D3-74B01EB2168B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795BA-8893-41D5-AD97-AAA95A0E928C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32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CC91-6429-42CF-8606-0B27043302C6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82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885D-FE79-404E-87AD-EBDF24730EA8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25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0B32-85A2-49B5-B2F9-BE87A2F48B52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11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29ADBE-4F5C-48F1-88D0-998F7BB663C4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33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A688-5A34-8F7A-7AAD-2D853765F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2800" b="1" dirty="0"/>
              <a:t>AI Based Early Screening of Prosopagnosia using Multimodal Electroencephalography and Diagnosis-Specific Questionnaire</a:t>
            </a:r>
            <a:br>
              <a:rPr lang="en-IN" b="1" dirty="0"/>
            </a:b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(Paper ID – 490)</a:t>
            </a:r>
            <a:br>
              <a:rPr lang="en-IN" sz="28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R. Lakshmi, Aadithya Arunachalam, Anapalli Arjun, Varun Radhakrishnan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3A073-4813-58A8-3A05-F9FC07FE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5799" y="4164571"/>
            <a:ext cx="8855579" cy="876718"/>
          </a:xfrm>
        </p:spPr>
        <p:txBody>
          <a:bodyPr/>
          <a:lstStyle/>
          <a:p>
            <a:pPr algn="ctr"/>
            <a:r>
              <a:rPr lang="en-IN" sz="2400" b="1" dirty="0"/>
              <a:t>Presented By – R. Lakshmi </a:t>
            </a:r>
            <a:r>
              <a:rPr lang="en-IN" sz="2400" b="1" dirty="0">
                <a:latin typeface="+mn-lt"/>
              </a:rPr>
              <a:t>(</a:t>
            </a:r>
            <a:r>
              <a:rPr lang="en-IN" sz="2400" b="1" dirty="0"/>
              <a:t>SRM Valliammai Engineering College)</a:t>
            </a:r>
            <a:endParaRPr lang="en-IN" sz="2400" b="1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36EB-B783-4772-69C1-1E0329AB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08156" y="6451521"/>
            <a:ext cx="7072312" cy="365125"/>
          </a:xfrm>
        </p:spPr>
        <p:txBody>
          <a:bodyPr/>
          <a:lstStyle/>
          <a:p>
            <a:pPr algn="ctr"/>
            <a:r>
              <a:rPr lang="en-US" sz="1000" b="1" dirty="0"/>
              <a:t>4</a:t>
            </a:r>
            <a:r>
              <a:rPr lang="en-US" sz="1000" b="1" baseline="30000" dirty="0"/>
              <a:t>th</a:t>
            </a:r>
            <a:r>
              <a:rPr lang="en-US" sz="1000" b="1" dirty="0"/>
              <a:t> International Conference on Innovations in Data Analytics (ICIDA 2025</a:t>
            </a:r>
            <a:r>
              <a:rPr lang="en-US" b="1" dirty="0"/>
              <a:t>)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C91CDE-62FB-A27B-9EA9-F310CFC17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8" t="37213" r="14132" b="37344"/>
          <a:stretch>
            <a:fillRect/>
          </a:stretch>
        </p:blipFill>
        <p:spPr>
          <a:xfrm>
            <a:off x="6095999" y="5209593"/>
            <a:ext cx="2663252" cy="717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03A4C-3C6F-A743-3624-C19491063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354"/>
            <a:ext cx="12191999" cy="5740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0D1DFE-D85C-2E7F-D112-487DB4CF8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274" y="615385"/>
            <a:ext cx="1396105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1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30AC-5F0D-5049-3505-CEB377AA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788" y="215652"/>
            <a:ext cx="9324423" cy="1012154"/>
          </a:xfrm>
        </p:spPr>
        <p:txBody>
          <a:bodyPr/>
          <a:lstStyle/>
          <a:p>
            <a:r>
              <a:rPr lang="en-IN" b="1" dirty="0"/>
              <a:t>Presentation Outline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52BB4-2AD7-B28C-EB59-CCEEAA1E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374" y="6304459"/>
            <a:ext cx="6700837" cy="365125"/>
          </a:xfrm>
        </p:spPr>
        <p:txBody>
          <a:bodyPr/>
          <a:lstStyle/>
          <a:p>
            <a:r>
              <a:rPr lang="en-US" sz="1100" b="1" dirty="0"/>
              <a:t>4</a:t>
            </a:r>
            <a:r>
              <a:rPr lang="en-US" sz="1100" b="1" baseline="30000" dirty="0"/>
              <a:t>th</a:t>
            </a:r>
            <a:r>
              <a:rPr lang="en-US" sz="1100" b="1" dirty="0"/>
              <a:t> International Conference on Innovations in Data Analytics (ICIDA 2025)</a:t>
            </a:r>
            <a:endParaRPr lang="en-IN" sz="11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B411A8-ED05-EAE0-9642-DE7937628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42AD560-5061-A2D0-9DCF-7648DD5C9B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15833" y="1690606"/>
            <a:ext cx="6317307" cy="3693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Introduction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Literature Review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Problem Formulation / Problem Description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Novelty of the Proposed Work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Proposed Methodology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Dataset Details / Benchmark / Simulation Platform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Experimental Results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Conclusion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2200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879409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4FEC-0A94-243F-2141-60EC7547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D0E9A-5B95-6C3B-68B5-4954B5E4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219476"/>
            <a:ext cx="9094234" cy="846721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9E706-6C31-CEF4-6C12-E534338F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784" y="6446771"/>
            <a:ext cx="5786429" cy="191753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DFDE2E-9EDE-F4E8-B067-BCFA50FC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7839711-E40B-86C7-67A4-40030329F0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2366" y="1316790"/>
            <a:ext cx="10351263" cy="407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80000"/>
              </a:lnSpc>
            </a:pPr>
            <a:r>
              <a:rPr lang="en-US" altLang="en-US" sz="2200" dirty="0"/>
              <a:t>Prosopagnosia (face blindness) is a neurocognitive condition affecting familiar face recognition.</a:t>
            </a:r>
          </a:p>
          <a:p>
            <a:pPr fontAlgn="base">
              <a:lnSpc>
                <a:spcPct val="80000"/>
              </a:lnSpc>
            </a:pPr>
            <a:r>
              <a:rPr lang="en-US" altLang="en-US" sz="2200" dirty="0"/>
              <a:t>Early screening is crucial, especially for children, to enable timely intervention and support.</a:t>
            </a:r>
          </a:p>
          <a:p>
            <a:pPr fontAlgn="base">
              <a:lnSpc>
                <a:spcPct val="80000"/>
              </a:lnSpc>
            </a:pPr>
            <a:r>
              <a:rPr lang="en-US" altLang="en-US" sz="2200" dirty="0"/>
              <a:t>Existing methods rely on subjective questionnaires or slow </a:t>
            </a:r>
            <a:r>
              <a:rPr lang="en-US" altLang="en-US" sz="2200" dirty="0" err="1"/>
              <a:t>behavioural</a:t>
            </a:r>
            <a:r>
              <a:rPr lang="en-US" altLang="en-US" sz="2200" dirty="0"/>
              <a:t> tests, limiting accuracy and usability.</a:t>
            </a:r>
          </a:p>
          <a:p>
            <a:pPr fontAlgn="base">
              <a:lnSpc>
                <a:spcPct val="80000"/>
              </a:lnSpc>
            </a:pPr>
            <a:r>
              <a:rPr lang="en-US" altLang="en-US" sz="2200" dirty="0"/>
              <a:t>EEG offers objective neural biomarkers (e.g., N170) but is rarely used for technical diagnosis in real-time screening systems.</a:t>
            </a:r>
          </a:p>
          <a:p>
            <a:pPr fontAlgn="base">
              <a:lnSpc>
                <a:spcPct val="80000"/>
              </a:lnSpc>
            </a:pPr>
            <a:r>
              <a:rPr lang="en-US" altLang="en-US" sz="2200" dirty="0"/>
              <a:t>Current research lacks a multimodal framework combining </a:t>
            </a:r>
            <a:r>
              <a:rPr lang="en-US" altLang="en-US" sz="2200" b="1" dirty="0"/>
              <a:t>EEG-based neural evidence </a:t>
            </a:r>
            <a:r>
              <a:rPr lang="en-US" altLang="en-US" sz="2200" dirty="0"/>
              <a:t>and </a:t>
            </a:r>
            <a:r>
              <a:rPr lang="en-US" altLang="en-US" sz="2200" b="1" dirty="0" err="1"/>
              <a:t>behavioural</a:t>
            </a:r>
            <a:r>
              <a:rPr lang="en-US" altLang="en-US" sz="2200" b="1" dirty="0"/>
              <a:t> symptom assessment</a:t>
            </a:r>
            <a:r>
              <a:rPr lang="en-US" altLang="en-US" sz="2200" dirty="0"/>
              <a:t>.</a:t>
            </a:r>
          </a:p>
          <a:p>
            <a:pPr fontAlgn="base">
              <a:lnSpc>
                <a:spcPct val="80000"/>
              </a:lnSpc>
            </a:pPr>
            <a:r>
              <a:rPr lang="en-US" altLang="en-US" sz="2200" dirty="0"/>
              <a:t>This work proposes an </a:t>
            </a:r>
            <a:r>
              <a:rPr lang="en-US" altLang="en-US" sz="2200" b="1" dirty="0"/>
              <a:t>AI-based early screening system </a:t>
            </a:r>
            <a:r>
              <a:rPr lang="en-US" altLang="en-US" sz="2200" dirty="0"/>
              <a:t>integrating EEG analysis with a diagnosis-specific questionnaire for improved reliability and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389627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078A-37E2-8FDF-182E-A2F8B598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B1C9-BE05-F0BE-9807-F93AC664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71067"/>
            <a:ext cx="9323598" cy="712905"/>
          </a:xfrm>
        </p:spPr>
        <p:txBody>
          <a:bodyPr/>
          <a:lstStyle/>
          <a:p>
            <a:r>
              <a:rPr lang="en-IN" b="1" dirty="0"/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F2DBDB-CCC1-8A99-E78A-941090B65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0091"/>
              </p:ext>
            </p:extLst>
          </p:nvPr>
        </p:nvGraphicFramePr>
        <p:xfrm>
          <a:off x="1578682" y="983083"/>
          <a:ext cx="9134855" cy="5452656"/>
        </p:xfrm>
        <a:graphic>
          <a:graphicData uri="http://schemas.openxmlformats.org/drawingml/2006/table">
            <a:tbl>
              <a:tblPr/>
              <a:tblGrid>
                <a:gridCol w="1826971">
                  <a:extLst>
                    <a:ext uri="{9D8B030D-6E8A-4147-A177-3AD203B41FA5}">
                      <a16:colId xmlns:a16="http://schemas.microsoft.com/office/drawing/2014/main" val="1475145416"/>
                    </a:ext>
                  </a:extLst>
                </a:gridCol>
                <a:gridCol w="1826971">
                  <a:extLst>
                    <a:ext uri="{9D8B030D-6E8A-4147-A177-3AD203B41FA5}">
                      <a16:colId xmlns:a16="http://schemas.microsoft.com/office/drawing/2014/main" val="353610406"/>
                    </a:ext>
                  </a:extLst>
                </a:gridCol>
                <a:gridCol w="1826971">
                  <a:extLst>
                    <a:ext uri="{9D8B030D-6E8A-4147-A177-3AD203B41FA5}">
                      <a16:colId xmlns:a16="http://schemas.microsoft.com/office/drawing/2014/main" val="644568381"/>
                    </a:ext>
                  </a:extLst>
                </a:gridCol>
                <a:gridCol w="1826971">
                  <a:extLst>
                    <a:ext uri="{9D8B030D-6E8A-4147-A177-3AD203B41FA5}">
                      <a16:colId xmlns:a16="http://schemas.microsoft.com/office/drawing/2014/main" val="3587429461"/>
                    </a:ext>
                  </a:extLst>
                </a:gridCol>
                <a:gridCol w="1826971">
                  <a:extLst>
                    <a:ext uri="{9D8B030D-6E8A-4147-A177-3AD203B41FA5}">
                      <a16:colId xmlns:a16="http://schemas.microsoft.com/office/drawing/2014/main" val="264944213"/>
                    </a:ext>
                  </a:extLst>
                </a:gridCol>
              </a:tblGrid>
              <a:tr h="238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S.No</a:t>
                      </a:r>
                      <a:endParaRPr lang="en-IN" sz="160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Title &amp; Year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Authors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Method / Focus</a:t>
                      </a:r>
                      <a:endParaRPr lang="en-IN" sz="160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Key Findings</a:t>
                      </a:r>
                      <a:endParaRPr lang="en-IN" sz="1600" dirty="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083339"/>
                  </a:ext>
                </a:extLst>
              </a:tr>
              <a:tr h="113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1</a:t>
                      </a:r>
                      <a:endParaRPr lang="en-IN" sz="1800" dirty="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1"/>
                        <a:t>Prosopagnosia: Face Blindness and Its Association With Neurological Disorders (2024)</a:t>
                      </a:r>
                      <a:endParaRPr lang="en-US" sz="1400" b="1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/>
                        <a:t>Kennedy A. Josephs et al.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Literature review of developmental/acquired prosopagnosia cases.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Linked to fusiform damage; urged better screening and rehabilitation methods.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511277"/>
                  </a:ext>
                </a:extLst>
              </a:tr>
              <a:tr h="1311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2</a:t>
                      </a:r>
                      <a:endParaRPr lang="en-IN" sz="180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1"/>
                        <a:t>A New Approach to Diagnosing and Researching Developmental Prosopagnosia: Excluded Cases Are Impaired Too (2022)</a:t>
                      </a:r>
                      <a:endParaRPr lang="en-US" sz="1400" b="1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/>
                        <a:t>Edwin J. Burns et al.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Compared diagnosed and borderline DP cases with face/object tests.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Borderline cases still impaired; proposed spectrum-based diagnosis.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740811"/>
                  </a:ext>
                </a:extLst>
              </a:tr>
              <a:tr h="1311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3</a:t>
                      </a:r>
                      <a:endParaRPr lang="en-IN" sz="180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1"/>
                        <a:t>Performance Comparison of Different EEG Analysis Techniques Based on Deep Learning Approaches (2021)</a:t>
                      </a:r>
                      <a:endParaRPr lang="en-US" sz="1400" b="1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Swarali Belsare et al.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Compared CNN, RNN, and hybrid models on EEG datasets.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CNNs performed best; hybrids improved spatial–temporal feature capture.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291371"/>
                  </a:ext>
                </a:extLst>
              </a:tr>
              <a:tr h="113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4</a:t>
                      </a:r>
                      <a:endParaRPr lang="en-IN" sz="1800" dirty="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1" dirty="0"/>
                        <a:t>Challenging Deep Learning Methods for EEG Signal Denoising Under Data Corruption (2024)</a:t>
                      </a:r>
                      <a:endParaRPr lang="en-US" sz="1400" b="1" dirty="0"/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Farzaneh Taleb et al.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Tested CNN autoencoders and GANs under simulated noise.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Severe corruption reduced accuracy; highlighted need for spatial–temporal priors.</a:t>
                      </a:r>
                    </a:p>
                  </a:txBody>
                  <a:tcPr marL="56836" marR="56836" marT="28418" marB="284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75275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6C1CC-49B1-1C96-25F2-99B8BF86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7671" y="6404370"/>
            <a:ext cx="5620209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029FDA-09F5-922E-E46C-F4760EE9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3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ED50-0C90-CADB-CEAC-50F42B1D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7C28-5150-F5CE-96BE-39008575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839" y="209973"/>
            <a:ext cx="9282322" cy="85998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Problem Formulation/ Problem Description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CE42-B362-1C61-99D3-03DAC33D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10" y="6361697"/>
            <a:ext cx="5843578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5AE4D-CBF0-F13F-3542-BF02511BC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368" y="0"/>
            <a:ext cx="842632" cy="8599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3455F-2B98-7575-6827-BC6376214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13" name="Rectangle 7">
            <a:extLst>
              <a:ext uri="{FF2B5EF4-FFF2-40B4-BE49-F238E27FC236}">
                <a16:creationId xmlns:a16="http://schemas.microsoft.com/office/drawing/2014/main" id="{E875D3F1-AEA2-3058-161D-B9DB714B7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2263" y="992282"/>
            <a:ext cx="9216471" cy="204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80000"/>
              </a:lnSpc>
            </a:pPr>
            <a:r>
              <a:rPr lang="en-US" altLang="en-US" sz="1800" dirty="0"/>
              <a:t>Prosopagnosia affects face-recognition ability, requiring early and reliable screening.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Existing </a:t>
            </a:r>
            <a:r>
              <a:rPr lang="en-US" altLang="en-US" sz="1800" dirty="0" err="1"/>
              <a:t>behavioural</a:t>
            </a:r>
            <a:r>
              <a:rPr lang="en-US" altLang="en-US" sz="1800" dirty="0"/>
              <a:t> tests are subjective and time-consuming, while EEG studies are restricted to research settings.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No current system integrates EEG biomarkers with symptom-based questionnaires for accurate early detection.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A unified AI model is required to fuse neural and </a:t>
            </a:r>
            <a:r>
              <a:rPr lang="en-US" altLang="en-US" sz="1800" dirty="0" err="1"/>
              <a:t>behavioural</a:t>
            </a:r>
            <a:r>
              <a:rPr lang="en-US" altLang="en-US" sz="1800" dirty="0"/>
              <a:t> data into a single, reliable screening decision.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8A2349-4A9C-2299-9B81-1B3FAF58AB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629" y="3117685"/>
            <a:ext cx="4471359" cy="27480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61CEB2-C84A-1000-DA3A-B26C6131B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794" y="3065483"/>
            <a:ext cx="5600470" cy="280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9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46D0-67A4-A653-8A0F-E54F1EAD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1BEE-C7A9-D892-3B12-EA4D5FF9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5275"/>
            <a:ext cx="9323600" cy="65912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Novelty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B0FA8-42DB-8722-A193-A2A235D0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1947" y="6419201"/>
            <a:ext cx="6400790" cy="191753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E66C1-1356-A1BE-D303-6681B4E79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C7C7900-D6B1-E9E1-DCCD-8F64135DA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4513" y="3575987"/>
            <a:ext cx="9323597" cy="284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80000"/>
              </a:lnSpc>
            </a:pPr>
            <a:r>
              <a:rPr lang="en-US" altLang="en-US" sz="1800" dirty="0"/>
              <a:t>First </a:t>
            </a:r>
            <a:r>
              <a:rPr lang="en-US" altLang="en-US" sz="1800" b="1" dirty="0"/>
              <a:t>multimodal framework </a:t>
            </a:r>
            <a:r>
              <a:rPr lang="en-US" altLang="en-US" sz="1800" dirty="0"/>
              <a:t>combining EEG-based neural biomarkers with a diagnosis-specific questionnaire for prosopagnosia screening.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 Utilizes </a:t>
            </a:r>
            <a:r>
              <a:rPr lang="en-US" altLang="en-US" sz="1800" b="1" dirty="0"/>
              <a:t>CRNN architecture </a:t>
            </a:r>
            <a:r>
              <a:rPr lang="en-US" altLang="en-US" sz="1800" dirty="0"/>
              <a:t>to capture both spatial and temporal EEG characteristics, improving classification accuracy.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Introduces </a:t>
            </a:r>
            <a:r>
              <a:rPr lang="en-US" altLang="en-US" sz="1800" b="1" dirty="0"/>
              <a:t>weighted decision fusion</a:t>
            </a:r>
            <a:r>
              <a:rPr lang="en-US" altLang="en-US" sz="1800" dirty="0"/>
              <a:t>, enabling a unified and more reliable diagnosis compared to unimodal methods.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Converts EEG into </a:t>
            </a:r>
            <a:r>
              <a:rPr lang="en-US" altLang="en-US" sz="1800" b="1" dirty="0"/>
              <a:t>ERP-based image representations </a:t>
            </a:r>
            <a:r>
              <a:rPr lang="en-US" altLang="en-US" sz="1800" dirty="0"/>
              <a:t>(spectrograms/topographies) for enhanced feature learning.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Designed as a </a:t>
            </a:r>
            <a:r>
              <a:rPr lang="en-US" altLang="en-US" sz="1800" b="1" dirty="0"/>
              <a:t>non-invasive, child-friendly </a:t>
            </a:r>
            <a:r>
              <a:rPr lang="en-US" altLang="en-US" sz="1800" dirty="0"/>
              <a:t>early screening tool, suitable for practical educational and clinical environments.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563DC-8A54-6918-EC9A-AC7DE389B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7" y="1091928"/>
            <a:ext cx="4408098" cy="2190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E6E89-391D-77CE-3844-CCE648BD8B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05112" y="1091928"/>
            <a:ext cx="4408097" cy="219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ED4B-9C42-861D-2B09-572212BB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C40A-F5E3-2DEB-810F-11A2CBAF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97083"/>
            <a:ext cx="9323598" cy="68958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Proposed Method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16CBB-D69C-8514-8ABD-E80AED46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0517" y="6295792"/>
            <a:ext cx="5729278" cy="365125"/>
          </a:xfrm>
        </p:spPr>
        <p:txBody>
          <a:bodyPr/>
          <a:lstStyle/>
          <a:p>
            <a:r>
              <a:rPr lang="en-US" sz="1100" b="1" dirty="0"/>
              <a:t>4</a:t>
            </a:r>
            <a:r>
              <a:rPr lang="en-US" sz="1100" b="1" baseline="30000" dirty="0"/>
              <a:t>th</a:t>
            </a:r>
            <a:r>
              <a:rPr lang="en-US" sz="1100" b="1" dirty="0"/>
              <a:t>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76C7C-C9E5-F424-E2B3-80C63A88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1B76203-29A1-DD6D-ECB2-6A5187D865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886672"/>
            <a:ext cx="9513889" cy="284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80000"/>
              </a:lnSpc>
            </a:pPr>
            <a:r>
              <a:rPr lang="en-US" altLang="en-US" sz="1800" dirty="0"/>
              <a:t>EEG data is converted into image-based representations (spectrograms/topographies) for deep-learning processing.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A </a:t>
            </a:r>
            <a:r>
              <a:rPr lang="en-US" altLang="en-US" sz="1800" b="1" dirty="0"/>
              <a:t>CRNN model </a:t>
            </a:r>
            <a:r>
              <a:rPr lang="en-US" altLang="en-US" sz="1800" dirty="0"/>
              <a:t>combines CNN (spatial features) and LSTM (temporal patterns) for EEG classification.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A 15-item diagnosis-specific questionnaire is scored and normalized to represent </a:t>
            </a:r>
            <a:r>
              <a:rPr lang="en-US" altLang="en-US" sz="1800" dirty="0" err="1"/>
              <a:t>behavioural</a:t>
            </a:r>
            <a:r>
              <a:rPr lang="en-US" altLang="en-US" sz="1800" dirty="0"/>
              <a:t> indicators.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A </a:t>
            </a:r>
            <a:r>
              <a:rPr lang="en-US" altLang="en-US" sz="1800" b="1" dirty="0"/>
              <a:t>weighted fusion approach</a:t>
            </a:r>
            <a:r>
              <a:rPr lang="en-US" altLang="en-US" sz="1800" dirty="0"/>
              <a:t> integrates EEG predictions with questionnaire scores to produce the final screening decision.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Results, confidence levels, and ERP patterns are displayed through a web-based visualization dashboard.</a:t>
            </a:r>
          </a:p>
        </p:txBody>
      </p:sp>
      <p:pic>
        <p:nvPicPr>
          <p:cNvPr id="6" name="image4.png">
            <a:extLst>
              <a:ext uri="{FF2B5EF4-FFF2-40B4-BE49-F238E27FC236}">
                <a16:creationId xmlns:a16="http://schemas.microsoft.com/office/drawing/2014/main" id="{8391BF62-C19C-AD0F-654C-9D2B32CF241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378200" y="3585458"/>
            <a:ext cx="8415107" cy="271033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9445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125A-7223-350D-60A7-B4AB5408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284D-013A-13A2-1D86-E517788C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136" y="269204"/>
            <a:ext cx="9323598" cy="9858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Dataset Details/ Benchmark/ Simulation Platform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FABAA-9A82-70FA-DD27-480CEEFC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097" y="6367335"/>
            <a:ext cx="5620209" cy="365125"/>
          </a:xfrm>
        </p:spPr>
        <p:txBody>
          <a:bodyPr/>
          <a:lstStyle/>
          <a:p>
            <a:r>
              <a:rPr lang="en-US" sz="1100" b="1" dirty="0"/>
              <a:t>4</a:t>
            </a:r>
            <a:r>
              <a:rPr lang="en-US" sz="1100" b="1" baseline="30000" dirty="0"/>
              <a:t>th</a:t>
            </a:r>
            <a:r>
              <a:rPr lang="en-US" sz="1100" b="1" dirty="0"/>
              <a:t>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89D2E5-B79E-A9F5-A86F-DB1091302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5FB6170-91ED-9260-AD22-010E624D0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2085" y="1764249"/>
            <a:ext cx="9029700" cy="332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80000"/>
              </a:lnSpc>
            </a:pPr>
            <a:r>
              <a:rPr lang="en-US" altLang="en-US" sz="1800" dirty="0"/>
              <a:t>EEG data recorded during a controlled face-recognition task using familiar and unfamiliar facial stimuli. 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b="1" dirty="0"/>
              <a:t>OPEN SOURCE DATA, and selective samples of SELF-TAKEN EEG SCANS</a:t>
            </a:r>
            <a:endParaRPr lang="en-US" altLang="en-US" sz="1800" dirty="0"/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Signals sampled in the </a:t>
            </a:r>
            <a:r>
              <a:rPr lang="en-US" altLang="en-US" sz="1800" b="1" dirty="0"/>
              <a:t>1–40 Hz range</a:t>
            </a:r>
            <a:r>
              <a:rPr lang="en-US" altLang="en-US" sz="1800" dirty="0"/>
              <a:t>, segmented into epochs (–200 </a:t>
            </a:r>
            <a:r>
              <a:rPr lang="en-US" altLang="en-US" sz="1800" dirty="0" err="1"/>
              <a:t>ms</a:t>
            </a:r>
            <a:r>
              <a:rPr lang="en-US" altLang="en-US" sz="1800" dirty="0"/>
              <a:t> to +800 </a:t>
            </a:r>
            <a:r>
              <a:rPr lang="en-US" altLang="en-US" sz="1800" dirty="0" err="1"/>
              <a:t>ms</a:t>
            </a:r>
            <a:r>
              <a:rPr lang="en-US" altLang="en-US" sz="1800" dirty="0"/>
              <a:t>) for ERP extraction.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Dataset includes corresponding </a:t>
            </a:r>
            <a:r>
              <a:rPr lang="en-US" altLang="en-US" sz="1800" b="1" dirty="0" err="1"/>
              <a:t>behavioural</a:t>
            </a:r>
            <a:r>
              <a:rPr lang="en-US" altLang="en-US" sz="1800" b="1" dirty="0"/>
              <a:t> questionnaire </a:t>
            </a:r>
            <a:r>
              <a:rPr lang="en-US" altLang="en-US" sz="1800" dirty="0"/>
              <a:t>responses scored on a 5-point Likert scale.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Preprocessing and feature extraction performed </a:t>
            </a:r>
            <a:r>
              <a:rPr lang="en-US" altLang="en-US" sz="1800" b="1" dirty="0"/>
              <a:t>using Python (MNE, NumPy, SciPy).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Model training and evaluation conducted on </a:t>
            </a:r>
            <a:r>
              <a:rPr lang="en-US" altLang="en-US" sz="1800" b="1" dirty="0"/>
              <a:t>TensorFlow/</a:t>
            </a:r>
            <a:r>
              <a:rPr lang="en-US" altLang="en-US" sz="1800" b="1" dirty="0" err="1"/>
              <a:t>Keras</a:t>
            </a:r>
            <a:r>
              <a:rPr lang="en-US" altLang="en-US" sz="1800" b="1" dirty="0"/>
              <a:t> </a:t>
            </a:r>
            <a:r>
              <a:rPr lang="en-US" altLang="en-US" sz="1800" dirty="0"/>
              <a:t>using a CRNN architecture.</a:t>
            </a:r>
          </a:p>
          <a:p>
            <a:pPr fontAlgn="base">
              <a:lnSpc>
                <a:spcPct val="80000"/>
              </a:lnSpc>
            </a:pPr>
            <a:r>
              <a:rPr lang="en-US" altLang="en-US" sz="1800" dirty="0"/>
              <a:t>Experiments executed on a </a:t>
            </a:r>
            <a:r>
              <a:rPr lang="en-US" altLang="en-US" sz="1800" b="1" dirty="0"/>
              <a:t>GPU-enabled simulation platform </a:t>
            </a:r>
            <a:r>
              <a:rPr lang="en-US" altLang="en-US" sz="1800" dirty="0"/>
              <a:t>for faster training and hyperparameter tuning.</a:t>
            </a:r>
          </a:p>
        </p:txBody>
      </p:sp>
    </p:spTree>
    <p:extLst>
      <p:ext uri="{BB962C8B-B14F-4D97-AF65-F5344CB8AC3E}">
        <p14:creationId xmlns:p14="http://schemas.microsoft.com/office/powerpoint/2010/main" val="950615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ABDB-7131-31A7-F4A3-6E9E991B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A693-252C-1A32-0275-C18FB314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762" y="252415"/>
            <a:ext cx="9323598" cy="6381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92A53-51EB-2571-4A28-0676D54C7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907" y="1143005"/>
            <a:ext cx="10055223" cy="1955800"/>
          </a:xfrm>
        </p:spPr>
        <p:txBody>
          <a:bodyPr>
            <a:normAutofit/>
          </a:bodyPr>
          <a:lstStyle/>
          <a:p>
            <a:r>
              <a:rPr lang="en-US" sz="1800" dirty="0"/>
              <a:t>The multimodal fusion approach achieved an overall </a:t>
            </a:r>
            <a:r>
              <a:rPr lang="en-US" sz="1800" b="1" dirty="0"/>
              <a:t>classification accuracy of 88.5%</a:t>
            </a:r>
            <a:r>
              <a:rPr lang="en-US" sz="1800" dirty="0"/>
              <a:t>, outperforming EEG-only and questionnaire-only models.</a:t>
            </a:r>
          </a:p>
          <a:p>
            <a:r>
              <a:rPr lang="en-US" sz="1800" dirty="0"/>
              <a:t>Questionnaire normalization contributed to consistent </a:t>
            </a:r>
            <a:r>
              <a:rPr lang="en-US" sz="1800" dirty="0" err="1"/>
              <a:t>behavioural</a:t>
            </a:r>
            <a:r>
              <a:rPr lang="en-US" sz="1800" dirty="0"/>
              <a:t> scoring, improving fusion stability.</a:t>
            </a:r>
          </a:p>
          <a:p>
            <a:r>
              <a:rPr lang="en-US" sz="1800" dirty="0"/>
              <a:t>Weighted fusion (0.7 EEG + 0.3 questionnaire) delivered the </a:t>
            </a:r>
            <a:r>
              <a:rPr lang="en-US" sz="1800" b="1" dirty="0"/>
              <a:t>highest confidence scores</a:t>
            </a:r>
            <a:r>
              <a:rPr lang="en-US" sz="1800" dirty="0"/>
              <a:t> and reduced misclassification.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BE6B7-B71D-AD3C-2DE8-4F677A6B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39273" y="5383214"/>
            <a:ext cx="2750239" cy="365125"/>
          </a:xfrm>
        </p:spPr>
        <p:txBody>
          <a:bodyPr/>
          <a:lstStyle/>
          <a:p>
            <a:r>
              <a:rPr lang="en-US" sz="1100" b="1" dirty="0"/>
              <a:t>Confusion Matrix of the Developed Model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9EF7B1-CE50-0C2E-4459-AFA1676F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53260D-704F-83EA-F682-531A5B9B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067" y="3181176"/>
            <a:ext cx="4091250" cy="2692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A0A54B-CB53-B983-5EEB-ECE788C306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98"/>
          <a:stretch>
            <a:fillRect/>
          </a:stretch>
        </p:blipFill>
        <p:spPr>
          <a:xfrm>
            <a:off x="6449427" y="3259666"/>
            <a:ext cx="4529933" cy="2020363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BC67522E-3690-8F30-3B08-FAA759C977D1}"/>
              </a:ext>
            </a:extLst>
          </p:cNvPr>
          <p:cNvSpPr txBox="1">
            <a:spLocks/>
          </p:cNvSpPr>
          <p:nvPr/>
        </p:nvSpPr>
        <p:spPr>
          <a:xfrm>
            <a:off x="4467235" y="6581774"/>
            <a:ext cx="5486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/>
              <a:t>4</a:t>
            </a:r>
            <a:r>
              <a:rPr lang="en-US" sz="1100" b="1" baseline="30000"/>
              <a:t>th</a:t>
            </a:r>
            <a:r>
              <a:rPr lang="en-US" sz="1100" b="1"/>
              <a:t> International Conference on Innovations in Data Analytics (ICIDA 2025)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1549421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CB11-65B2-A341-0C5B-F7C2F343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405C-5BB0-2D88-2C14-F4617A0A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775" y="307180"/>
            <a:ext cx="9179959" cy="6406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89AD6-FB85-0C14-371E-F750A0FA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650" y="6436469"/>
            <a:ext cx="5686425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A27CF0-07CD-4351-AE23-CCD1B4B7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87032CE-CD66-AB5F-B6E3-2BC1DBCBF7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2510" y="1751949"/>
            <a:ext cx="6363758" cy="3640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80000"/>
              </a:lnSpc>
              <a:tabLst/>
            </a:pPr>
            <a:r>
              <a:rPr lang="en-US" altLang="en-US" sz="1800" dirty="0"/>
              <a:t>A multimodal AI framework was developed for early screening of prosopagnosia using EEG signals and a diagnosis-specific questionnaire.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1800" dirty="0"/>
              <a:t>CRNN-based EEG analysis effectively captured spatial–temporal neural patterns related to face recognition.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1800" dirty="0"/>
              <a:t>Behavioral questionnaire scores complemented EEG predictions, improving diagnostic reliability.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1800" dirty="0"/>
              <a:t>Weighted fusion of both modalities achieved higher accuracy than unimodal approaches.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1800" dirty="0"/>
              <a:t>The system is non-invasive, efficient, and suitable for real-time clinical or educational screening.</a:t>
            </a:r>
          </a:p>
          <a:p>
            <a:pPr marR="0" lvl="0" fontAlgn="base">
              <a:lnSpc>
                <a:spcPct val="80000"/>
              </a:lnSpc>
              <a:tabLst/>
            </a:pPr>
            <a:r>
              <a:rPr lang="en-US" altLang="en-US" sz="1800" dirty="0"/>
              <a:t>Provides interpretable outputs and automated reports, supporting practical adoption in future screening applications.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F904E4-18AE-2B72-F610-F90D4D11C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831" y="1979590"/>
            <a:ext cx="3528273" cy="318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1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067D-AD5C-9B86-006B-88D5226E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A20-E2EA-CFED-7F4C-FCAE7DE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359447"/>
            <a:ext cx="9323598" cy="55495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Bibliography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F4E3-F869-DFE9-F2D0-D532784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4837" y="6459785"/>
            <a:ext cx="5329237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C68C9-2400-6CC5-55B8-A41278D3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7DD2B469-7FF3-70A2-5406-E0860DD23B96}"/>
              </a:ext>
            </a:extLst>
          </p:cNvPr>
          <p:cNvSpPr txBox="1"/>
          <p:nvPr/>
        </p:nvSpPr>
        <p:spPr>
          <a:xfrm>
            <a:off x="1583267" y="1134532"/>
            <a:ext cx="975443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Manippa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et.al.,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"The Neural Correlates of Developmental Prosopagnosia: Twenty-Five Years on," Brain Sciences, vol. 13, no. 10, p. 1399, 2023.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Nørkær et.al.,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"Disentangling developmental prosopagnosia: A scoping review of terms, tools and topics," Cortex, vol. 176, pp. 161–193, 2024.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Faghel-Soubeyrand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et.al.,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"Neural computations in prosopagnosia," Frontiers in Neuroscience, vol. 18, Article 11127037, 2024.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Lueschow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et.al.,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"The 170ms Response to Faces as Measured by MEG (M170) Is Consistently Altered in Congenital Prosopagnosia,"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ONE, vol. 10, no. 9, e0137624, 2015.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J. Kim et.al.,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"Regional Brain Analysis and Machine Learning Techniques for Classifying Familiar and Unfamiliar Faces Using EEG," Arabian Journal for Science and Engineering,  2024.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Tsantani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et.al.,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"The Twenty Item Prosopagnosia Index (PI20) provides meaningful evidence of face recognition impairment," Cortex, vol. XX, no. XX, pp. XX–XX, 2021.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Van den Stock et.al.,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"Neural Correlates of Perceiving Emotional Faces and Bodies in Developmental Prosopagnosia: An Event-Related fMRI-Study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ONE, vol. 3, no. 9, e3195, 2008.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3877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45D4-B45C-AC55-2DDC-C178A844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57BF-9B49-9AD6-8A28-03435374F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2500313"/>
            <a:ext cx="8574622" cy="928688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b="1" dirty="0"/>
              <a:t>Thank You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C771B-2873-7DE7-1346-0CD31067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686" y="6302622"/>
            <a:ext cx="5843578" cy="365125"/>
          </a:xfrm>
        </p:spPr>
        <p:txBody>
          <a:bodyPr/>
          <a:lstStyle/>
          <a:p>
            <a:r>
              <a:rPr lang="en-US" sz="1200" b="1" dirty="0"/>
              <a:t>4</a:t>
            </a:r>
            <a:r>
              <a:rPr lang="en-US" sz="1200" b="1" baseline="30000" dirty="0"/>
              <a:t>th</a:t>
            </a:r>
            <a:r>
              <a:rPr lang="en-US" sz="1200" b="1" dirty="0"/>
              <a:t> International Conference on Innovations in Data Analytics (ICIDA 2025)</a:t>
            </a:r>
            <a:endParaRPr lang="en-IN" sz="1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A39F6-A753-609D-C67C-9E942923D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01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119</TotalTime>
  <Words>1262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Times New Roman</vt:lpstr>
      <vt:lpstr>Parallax</vt:lpstr>
      <vt:lpstr>AI Based Early Screening of Prosopagnosia using Multimodal Electroencephalography and Diagnosis-Specific Questionnaire (Paper ID – 490) R. Lakshmi, Aadithya Arunachalam, Anapalli Arjun, Varun Radhakrishnan</vt:lpstr>
      <vt:lpstr>Presentation Outline</vt:lpstr>
      <vt:lpstr>Introduction</vt:lpstr>
      <vt:lpstr>Literature Review</vt:lpstr>
      <vt:lpstr>Problem Formulation/ Problem Description</vt:lpstr>
      <vt:lpstr>Novelty</vt:lpstr>
      <vt:lpstr>Proposed Method </vt:lpstr>
      <vt:lpstr>Dataset Details/ Benchmark/ Simulation Platform</vt:lpstr>
      <vt:lpstr>Experimental Results</vt:lpstr>
      <vt:lpstr>Conclusion</vt:lpstr>
      <vt:lpstr>Bibliography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indrajit.pan@hotmail.com</dc:creator>
  <cp:lastModifiedBy>Arjun Anapalli</cp:lastModifiedBy>
  <cp:revision>6</cp:revision>
  <dcterms:created xsi:type="dcterms:W3CDTF">2025-11-16T19:10:11Z</dcterms:created>
  <dcterms:modified xsi:type="dcterms:W3CDTF">2025-12-04T14:20:01Z</dcterms:modified>
</cp:coreProperties>
</file>